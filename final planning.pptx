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bhaya Libre" panose="020B0604020202020204" charset="0"/>
      <p:regular r:id="rId13"/>
    </p:embeddedFont>
    <p:embeddedFont>
      <p:font typeface="Abhaya Libre Bold" panose="020B0604020202020204" charset="0"/>
      <p:regular r:id="rId14"/>
    </p:embeddedFont>
    <p:embeddedFont>
      <p:font typeface="Alatsi" panose="020B0604020202020204" charset="0"/>
      <p:regular r:id="rId15"/>
    </p:embeddedFont>
    <p:embeddedFont>
      <p:font typeface="Canva Sans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Open San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12646898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4633952" y="6469533"/>
            <a:ext cx="12625348" cy="978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29"/>
              </a:lnSpc>
            </a:pPr>
            <a:r>
              <a:rPr lang="en-US" sz="573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By: Omar Abuhassan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67640" y="8725001"/>
            <a:ext cx="6882108" cy="533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planning a computing project | 2024</a:t>
            </a:r>
          </a:p>
        </p:txBody>
      </p:sp>
      <p:sp>
        <p:nvSpPr>
          <p:cNvPr id="15" name="Freeform 15"/>
          <p:cNvSpPr/>
          <p:nvPr/>
        </p:nvSpPr>
        <p:spPr>
          <a:xfrm>
            <a:off x="11118095" y="925830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4000560" y="2124717"/>
            <a:ext cx="13016268" cy="3874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29"/>
              </a:lnSpc>
            </a:pPr>
            <a:r>
              <a:rPr lang="en-US" sz="737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Optimizing Big Data Analytics for Strategic Decision-Making at Zain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0658" y="8819332"/>
            <a:ext cx="5949511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planning a computing project| 2024</a:t>
            </a:r>
          </a:p>
        </p:txBody>
      </p:sp>
      <p:sp>
        <p:nvSpPr>
          <p:cNvPr id="3" name="AutoShape 3"/>
          <p:cNvSpPr/>
          <p:nvPr/>
        </p:nvSpPr>
        <p:spPr>
          <a:xfrm>
            <a:off x="-260599" y="9061267"/>
            <a:ext cx="5741257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764167" y="620819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7" name="Group 7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-2627572" y="-73333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5304133" y="2047384"/>
            <a:ext cx="7022119" cy="6192232"/>
          </a:xfrm>
          <a:custGeom>
            <a:avLst/>
            <a:gdLst/>
            <a:ahLst/>
            <a:cxnLst/>
            <a:rect l="l" t="t" r="r" b="b"/>
            <a:pathLst>
              <a:path w="7022119" h="6192232">
                <a:moveTo>
                  <a:pt x="0" y="0"/>
                </a:moveTo>
                <a:lnTo>
                  <a:pt x="7022119" y="0"/>
                </a:lnTo>
                <a:lnTo>
                  <a:pt x="7022119" y="6192232"/>
                </a:lnTo>
                <a:lnTo>
                  <a:pt x="0" y="6192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5304133" y="477800"/>
            <a:ext cx="7679734" cy="987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61"/>
              </a:lnSpc>
            </a:pPr>
            <a:r>
              <a:rPr lang="en-US" sz="575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Definition of Big </a:t>
            </a:r>
            <a:r>
              <a:rPr lang="en-US" sz="54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</a:t>
            </a:r>
            <a:endParaRPr lang="en-US" sz="5758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304133" y="2739788"/>
            <a:ext cx="2102518" cy="721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0"/>
              </a:lnSpc>
            </a:pPr>
            <a:r>
              <a:rPr lang="en-US" sz="20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6Vs of Big Data</a:t>
            </a:r>
          </a:p>
          <a:p>
            <a:pPr algn="ctr">
              <a:lnSpc>
                <a:spcPts val="2920"/>
              </a:lnSpc>
            </a:pPr>
            <a:endParaRPr lang="en-US" sz="208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668167" y="2558469"/>
            <a:ext cx="4247882" cy="84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3"/>
              </a:lnSpc>
            </a:pPr>
            <a:r>
              <a:rPr lang="en-US" sz="24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Volume, Velocity, Variety, Veracity, Value, Volatility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15160" y="4776896"/>
            <a:ext cx="1880463" cy="73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1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Examples of Big Data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03964" y="4488183"/>
            <a:ext cx="4776289" cy="129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0"/>
              </a:lnSpc>
            </a:pPr>
            <a:r>
              <a:rPr lang="en-US" sz="24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Social media data, real-time processing</a:t>
            </a:r>
          </a:p>
          <a:p>
            <a:pPr algn="ctr">
              <a:lnSpc>
                <a:spcPts val="3490"/>
              </a:lnSpc>
            </a:pPr>
            <a:endParaRPr lang="en-US" sz="2493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15160" y="7063275"/>
            <a:ext cx="1991490" cy="727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3"/>
              </a:lnSpc>
            </a:pPr>
            <a:r>
              <a:rPr lang="en-US" sz="210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Importance of Big Data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15192" y="6992939"/>
            <a:ext cx="1843802" cy="86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6"/>
              </a:lnSpc>
            </a:pPr>
            <a:r>
              <a:rPr lang="en-US" sz="24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Significance</a:t>
            </a:r>
          </a:p>
          <a:p>
            <a:pPr algn="ctr">
              <a:lnSpc>
                <a:spcPts val="3486"/>
              </a:lnSpc>
            </a:pPr>
            <a:endParaRPr lang="en-US" sz="249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53980" y="866775"/>
            <a:ext cx="13180039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LITERATURE REVIEW</a:t>
            </a:r>
          </a:p>
        </p:txBody>
      </p:sp>
      <p:sp>
        <p:nvSpPr>
          <p:cNvPr id="3" name="AutoShape 3"/>
          <p:cNvSpPr/>
          <p:nvPr/>
        </p:nvSpPr>
        <p:spPr>
          <a:xfrm>
            <a:off x="-260599" y="9061267"/>
            <a:ext cx="6150260" cy="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6" name="Group 6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-2845001" y="43433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170724" y="6334798"/>
            <a:ext cx="6746176" cy="2285045"/>
          </a:xfrm>
          <a:custGeom>
            <a:avLst/>
            <a:gdLst/>
            <a:ahLst/>
            <a:cxnLst/>
            <a:rect l="l" t="t" r="r" b="b"/>
            <a:pathLst>
              <a:path w="6746176" h="2285045">
                <a:moveTo>
                  <a:pt x="0" y="0"/>
                </a:moveTo>
                <a:lnTo>
                  <a:pt x="6746176" y="0"/>
                </a:lnTo>
                <a:lnTo>
                  <a:pt x="6746176" y="2285045"/>
                </a:lnTo>
                <a:lnTo>
                  <a:pt x="0" y="2285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5480658" y="8819332"/>
            <a:ext cx="5949511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planning a computing project| 2024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5452" y="3274216"/>
            <a:ext cx="4357058" cy="2292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4"/>
              </a:lnSpc>
            </a:pPr>
            <a:r>
              <a:rPr lang="en-US" sz="1734" spc="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•Big Data’s Impact on Decision-Making (Jamarani et al., 2024)</a:t>
            </a:r>
          </a:p>
          <a:p>
            <a:pPr algn="ctr">
              <a:lnSpc>
                <a:spcPts val="2254"/>
              </a:lnSpc>
            </a:pPr>
            <a:r>
              <a:rPr lang="en-US" sz="1734" spc="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Summary: Explores how big data analytics enhances decision-making processes across various industries.</a:t>
            </a:r>
          </a:p>
          <a:p>
            <a:pPr algn="ctr">
              <a:lnSpc>
                <a:spcPts val="2254"/>
              </a:lnSpc>
            </a:pPr>
            <a:r>
              <a:rPr lang="en-US" sz="1734" spc="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Key Finding: Emphasizes that big data enables more informed and timely decisions, leading to increased efficiency and competitive advantage.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0686" y="6166895"/>
            <a:ext cx="3686589" cy="2492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730" spc="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•Challenges in Big Data Governance (Janssen &amp; Kuk, 2016)</a:t>
            </a:r>
          </a:p>
          <a:p>
            <a:pPr algn="ctr">
              <a:lnSpc>
                <a:spcPts val="2249"/>
              </a:lnSpc>
            </a:pPr>
            <a:r>
              <a:rPr lang="en-US" sz="1730" spc="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Summary: Discusses the complexities of managing and governing big data in organizations.</a:t>
            </a:r>
          </a:p>
          <a:p>
            <a:pPr algn="ctr">
              <a:lnSpc>
                <a:spcPts val="2249"/>
              </a:lnSpc>
            </a:pPr>
            <a:r>
              <a:rPr lang="en-US" sz="1730" spc="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Key Finding: Identifies major challenges such as data quality, security, and compliance, and suggests frameworks for effective governance.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04954" y="3274216"/>
            <a:ext cx="4678092" cy="221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730" spc="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•Machine Learning Applications in Big Data (Xu, Frankwick &amp; Ramirez, 2016)</a:t>
            </a:r>
          </a:p>
          <a:p>
            <a:pPr algn="ctr">
              <a:lnSpc>
                <a:spcPts val="2249"/>
              </a:lnSpc>
            </a:pPr>
            <a:r>
              <a:rPr lang="en-US" sz="1730" spc="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Summary: Examines the role of machine learning techniques in analyzing large datasets.</a:t>
            </a:r>
          </a:p>
          <a:p>
            <a:pPr algn="ctr">
              <a:lnSpc>
                <a:spcPts val="2249"/>
              </a:lnSpc>
            </a:pPr>
            <a:r>
              <a:rPr lang="en-US" sz="1730" spc="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Key Finding: Highlights how machine learning algorithms can uncover hidden patterns and insights, significantly improving predictive analytics.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77440" y="6443120"/>
            <a:ext cx="4333120" cy="194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730" spc="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•Privacy Concerns in Big Data Analytics (Matturdi et al., 2014)</a:t>
            </a:r>
          </a:p>
          <a:p>
            <a:pPr algn="ctr">
              <a:lnSpc>
                <a:spcPts val="2249"/>
              </a:lnSpc>
            </a:pPr>
            <a:r>
              <a:rPr lang="en-US" sz="1730" spc="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Summary: Analyzes privacy issues related to the use of big data analytics.</a:t>
            </a:r>
          </a:p>
          <a:p>
            <a:pPr algn="ctr">
              <a:lnSpc>
                <a:spcPts val="2249"/>
              </a:lnSpc>
            </a:pPr>
            <a:r>
              <a:rPr lang="en-US" sz="1730" spc="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Key Finding: Addresses the ethical and legal implications of data privacy, emphasizing the need for robust data protection measures.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91201" y="4406203"/>
            <a:ext cx="5168099" cy="221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730" spc="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• The Role of Analytics in Marketing Strategies (Nazir et al., 2020)</a:t>
            </a:r>
          </a:p>
          <a:p>
            <a:pPr algn="ctr">
              <a:lnSpc>
                <a:spcPts val="2249"/>
              </a:lnSpc>
            </a:pPr>
            <a:r>
              <a:rPr lang="en-US" sz="1730" spc="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Summary: Investigates how analytics can be leveraged to refine marketing strategies and enhance customer engagement.</a:t>
            </a:r>
          </a:p>
          <a:p>
            <a:pPr algn="ctr">
              <a:lnSpc>
                <a:spcPts val="2249"/>
              </a:lnSpc>
            </a:pPr>
            <a:r>
              <a:rPr lang="en-US" sz="1730" spc="6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Key Finding: Shows that data-driven marketing strategies can lead to more targeted campaigns and improved ROI.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260599" y="9054465"/>
            <a:ext cx="5741257" cy="6802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547709" y="6504503"/>
            <a:ext cx="6926508" cy="2346127"/>
          </a:xfrm>
          <a:custGeom>
            <a:avLst/>
            <a:gdLst/>
            <a:ahLst/>
            <a:cxnLst/>
            <a:rect l="l" t="t" r="r" b="b"/>
            <a:pathLst>
              <a:path w="6926508" h="2346127">
                <a:moveTo>
                  <a:pt x="0" y="0"/>
                </a:moveTo>
                <a:lnTo>
                  <a:pt x="6926508" y="0"/>
                </a:lnTo>
                <a:lnTo>
                  <a:pt x="6926508" y="2346127"/>
                </a:lnTo>
                <a:lnTo>
                  <a:pt x="0" y="2346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553980" y="866775"/>
            <a:ext cx="13180039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BUSINESS FUNCTIONS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7" name="Group 7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-3482681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547193" y="3178787"/>
            <a:ext cx="5134877" cy="4957491"/>
          </a:xfrm>
          <a:custGeom>
            <a:avLst/>
            <a:gdLst/>
            <a:ahLst/>
            <a:cxnLst/>
            <a:rect l="l" t="t" r="r" b="b"/>
            <a:pathLst>
              <a:path w="5134877" h="4957491">
                <a:moveTo>
                  <a:pt x="0" y="0"/>
                </a:moveTo>
                <a:lnTo>
                  <a:pt x="5134877" y="0"/>
                </a:lnTo>
                <a:lnTo>
                  <a:pt x="5134877" y="4957491"/>
                </a:lnTo>
                <a:lnTo>
                  <a:pt x="0" y="4957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5480658" y="8793480"/>
            <a:ext cx="5949511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planning a computing project| 2024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7080" y="7124498"/>
            <a:ext cx="2132961" cy="75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6"/>
              </a:lnSpc>
              <a:spcBef>
                <a:spcPct val="0"/>
              </a:spcBef>
            </a:pPr>
            <a:r>
              <a:rPr lang="en-US" sz="2147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Customer </a:t>
            </a:r>
          </a:p>
          <a:p>
            <a:pPr algn="ctr">
              <a:lnSpc>
                <a:spcPts val="3006"/>
              </a:lnSpc>
              <a:spcBef>
                <a:spcPct val="0"/>
              </a:spcBef>
            </a:pPr>
            <a:r>
              <a:rPr lang="en-US" sz="2147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Service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05165" y="3571075"/>
            <a:ext cx="418933" cy="65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0"/>
              </a:lnSpc>
              <a:spcBef>
                <a:spcPct val="0"/>
              </a:spcBef>
            </a:pPr>
            <a:r>
              <a:rPr lang="en-US" sz="3757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IT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132" y="4899025"/>
            <a:ext cx="1337429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Marketing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29705" y="4889500"/>
            <a:ext cx="752366" cy="48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2"/>
              </a:lnSpc>
              <a:spcBef>
                <a:spcPct val="0"/>
              </a:spcBef>
            </a:pPr>
            <a:r>
              <a:rPr lang="en-US" sz="2794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Sales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67274" y="7114973"/>
            <a:ext cx="1230313" cy="505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9"/>
              </a:lnSpc>
              <a:spcBef>
                <a:spcPct val="0"/>
              </a:spcBef>
            </a:pPr>
            <a:r>
              <a:rPr lang="en-US" sz="298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Finance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82070" y="2333296"/>
            <a:ext cx="4969317" cy="87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How does the use of big data affect the </a:t>
            </a:r>
          </a:p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decision-making process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75508" y="3299930"/>
            <a:ext cx="6462475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1.IT: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Infrastructure optimization and enhanced cybersecurity.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069239" y="4599305"/>
            <a:ext cx="4875014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2.Marketing: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Targeted campaigns through data analysis.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41326" y="6353175"/>
            <a:ext cx="6330839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2.Sales: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Predictive analytics to understand customer purchasing trends.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08960" y="3268672"/>
            <a:ext cx="6915768" cy="2442030"/>
            <a:chOff x="0" y="0"/>
            <a:chExt cx="9221024" cy="325604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9221024" cy="3256040"/>
              <a:chOff x="0" y="0"/>
              <a:chExt cx="1821437" cy="643168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821437" cy="643168"/>
              </a:xfrm>
              <a:custGeom>
                <a:avLst/>
                <a:gdLst/>
                <a:ahLst/>
                <a:cxnLst/>
                <a:rect l="l" t="t" r="r" b="b"/>
                <a:pathLst>
                  <a:path w="1821437" h="643168">
                    <a:moveTo>
                      <a:pt x="57092" y="0"/>
                    </a:moveTo>
                    <a:lnTo>
                      <a:pt x="1764344" y="0"/>
                    </a:lnTo>
                    <a:cubicBezTo>
                      <a:pt x="1779486" y="0"/>
                      <a:pt x="1794008" y="6015"/>
                      <a:pt x="1804715" y="16722"/>
                    </a:cubicBezTo>
                    <a:cubicBezTo>
                      <a:pt x="1815422" y="27429"/>
                      <a:pt x="1821437" y="41951"/>
                      <a:pt x="1821437" y="57092"/>
                    </a:cubicBezTo>
                    <a:lnTo>
                      <a:pt x="1821437" y="586076"/>
                    </a:lnTo>
                    <a:cubicBezTo>
                      <a:pt x="1821437" y="601218"/>
                      <a:pt x="1815422" y="615739"/>
                      <a:pt x="1804715" y="626446"/>
                    </a:cubicBezTo>
                    <a:cubicBezTo>
                      <a:pt x="1794008" y="637153"/>
                      <a:pt x="1779486" y="643168"/>
                      <a:pt x="1764344" y="643168"/>
                    </a:cubicBezTo>
                    <a:lnTo>
                      <a:pt x="57092" y="643168"/>
                    </a:lnTo>
                    <a:cubicBezTo>
                      <a:pt x="41951" y="643168"/>
                      <a:pt x="27429" y="637153"/>
                      <a:pt x="16722" y="626446"/>
                    </a:cubicBezTo>
                    <a:cubicBezTo>
                      <a:pt x="6015" y="615739"/>
                      <a:pt x="0" y="601218"/>
                      <a:pt x="0" y="586076"/>
                    </a:cubicBezTo>
                    <a:lnTo>
                      <a:pt x="0" y="57092"/>
                    </a:lnTo>
                    <a:cubicBezTo>
                      <a:pt x="0" y="41951"/>
                      <a:pt x="6015" y="27429"/>
                      <a:pt x="16722" y="16722"/>
                    </a:cubicBezTo>
                    <a:cubicBezTo>
                      <a:pt x="27429" y="6015"/>
                      <a:pt x="41951" y="0"/>
                      <a:pt x="57092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821437" cy="6812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410209" lvl="1" indent="-205105" algn="ctr">
                  <a:lnSpc>
                    <a:spcPts val="2659"/>
                  </a:lnSpc>
                  <a:buFont typeface="Arial"/>
                  <a:buChar char="•"/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723237" y="133350"/>
              <a:ext cx="8042804" cy="27497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1.Conducted interviews and </a:t>
              </a:r>
            </a:p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 open-ended surveys.</a:t>
              </a:r>
            </a:p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2.Gathered in-depth perspectives on Big Data usage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73194" y="6685437"/>
            <a:ext cx="6651535" cy="2465844"/>
            <a:chOff x="0" y="0"/>
            <a:chExt cx="8868713" cy="3287792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8868713" cy="3287792"/>
              <a:chOff x="0" y="0"/>
              <a:chExt cx="1751844" cy="64944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751844" cy="649440"/>
              </a:xfrm>
              <a:custGeom>
                <a:avLst/>
                <a:gdLst/>
                <a:ahLst/>
                <a:cxnLst/>
                <a:rect l="l" t="t" r="r" b="b"/>
                <a:pathLst>
                  <a:path w="1751844" h="649440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590080"/>
                    </a:lnTo>
                    <a:cubicBezTo>
                      <a:pt x="1751844" y="622864"/>
                      <a:pt x="1725268" y="649440"/>
                      <a:pt x="1692484" y="649440"/>
                    </a:cubicBezTo>
                    <a:lnTo>
                      <a:pt x="59360" y="649440"/>
                    </a:lnTo>
                    <a:cubicBezTo>
                      <a:pt x="26577" y="649440"/>
                      <a:pt x="0" y="622864"/>
                      <a:pt x="0" y="590080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751844" cy="6875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695604" y="133350"/>
              <a:ext cx="7735510" cy="27814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1.Distributed structured questionnaires.</a:t>
              </a:r>
            </a:p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2.Performed statistical analysis on collected data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flipH="1" flipV="1">
            <a:off x="1090490" y="-104525"/>
            <a:ext cx="5403" cy="1904445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flipV="1">
            <a:off x="1091252" y="7749431"/>
            <a:ext cx="4640" cy="253746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5" name="Group 15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7512165" y="-155385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892058" y="904810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696744" y="3180412"/>
            <a:ext cx="7315200" cy="1875351"/>
          </a:xfrm>
          <a:custGeom>
            <a:avLst/>
            <a:gdLst/>
            <a:ahLst/>
            <a:cxnLst/>
            <a:rect l="l" t="t" r="r" b="b"/>
            <a:pathLst>
              <a:path w="7315200" h="1875351">
                <a:moveTo>
                  <a:pt x="0" y="0"/>
                </a:moveTo>
                <a:lnTo>
                  <a:pt x="7315200" y="0"/>
                </a:lnTo>
                <a:lnTo>
                  <a:pt x="7315200" y="1875351"/>
                </a:lnTo>
                <a:lnTo>
                  <a:pt x="0" y="18753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767582" y="5873012"/>
            <a:ext cx="7315200" cy="1875351"/>
          </a:xfrm>
          <a:custGeom>
            <a:avLst/>
            <a:gdLst/>
            <a:ahLst/>
            <a:cxnLst/>
            <a:rect l="l" t="t" r="r" b="b"/>
            <a:pathLst>
              <a:path w="7315200" h="1875351">
                <a:moveTo>
                  <a:pt x="0" y="0"/>
                </a:moveTo>
                <a:lnTo>
                  <a:pt x="7315200" y="0"/>
                </a:lnTo>
                <a:lnTo>
                  <a:pt x="7315200" y="1875351"/>
                </a:lnTo>
                <a:lnTo>
                  <a:pt x="0" y="18753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3689513" y="1093804"/>
            <a:ext cx="10908974" cy="1269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74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RESEARCH METHODOLOGY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50637" y="2620338"/>
            <a:ext cx="4534529" cy="670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Qualitative Methods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50637" y="5986928"/>
            <a:ext cx="5276728" cy="670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Quantitative Methods</a:t>
            </a:r>
          </a:p>
        </p:txBody>
      </p:sp>
      <p:sp>
        <p:nvSpPr>
          <p:cNvPr id="26" name="TextBox 26"/>
          <p:cNvSpPr txBox="1"/>
          <p:nvPr/>
        </p:nvSpPr>
        <p:spPr>
          <a:xfrm rot="-5400000">
            <a:off x="-1907438" y="4542266"/>
            <a:ext cx="5949511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planning a computing project| 2024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95947" y="4944257"/>
            <a:ext cx="3258470" cy="111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Sampling Technique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69247" y="3927905"/>
            <a:ext cx="1202055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Participants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07739" y="6620505"/>
            <a:ext cx="1525072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Data Collection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89513" y="3823572"/>
            <a:ext cx="5127781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Selected from key departments involved in Big Data initiatives.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76149" y="6287130"/>
            <a:ext cx="5540573" cy="999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Used secure electronic surveys and in-person interviews.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Ensured a diverse and representative sample to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capture varied experiences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66775"/>
            <a:ext cx="16230600" cy="2955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DATA ANALYSIS AND FINDINGS</a:t>
            </a:r>
          </a:p>
          <a:p>
            <a:pPr algn="ctr">
              <a:lnSpc>
                <a:spcPts val="11899"/>
              </a:lnSpc>
            </a:pPr>
            <a:endParaRPr lang="en-US" sz="8499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627362" y="0"/>
            <a:ext cx="937061" cy="10287000"/>
            <a:chOff x="0" y="0"/>
            <a:chExt cx="24679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798" cy="2709333"/>
            </a:xfrm>
            <a:custGeom>
              <a:avLst/>
              <a:gdLst/>
              <a:ahLst/>
              <a:cxnLst/>
              <a:rect l="l" t="t" r="r" b="b"/>
              <a:pathLst>
                <a:path w="246798" h="2709333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091252" y="7749431"/>
            <a:ext cx="4640" cy="253746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H="1" flipV="1">
            <a:off x="1090490" y="-104525"/>
            <a:ext cx="5403" cy="1904445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9" name="Group 9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9697545" y="878816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564423" y="-164117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617185" y="4013201"/>
            <a:ext cx="7315200" cy="3484695"/>
          </a:xfrm>
          <a:custGeom>
            <a:avLst/>
            <a:gdLst/>
            <a:ahLst/>
            <a:cxnLst/>
            <a:rect l="l" t="t" r="r" b="b"/>
            <a:pathLst>
              <a:path w="7315200" h="3484695">
                <a:moveTo>
                  <a:pt x="0" y="0"/>
                </a:moveTo>
                <a:lnTo>
                  <a:pt x="7315200" y="0"/>
                </a:lnTo>
                <a:lnTo>
                  <a:pt x="7315200" y="3484695"/>
                </a:lnTo>
                <a:lnTo>
                  <a:pt x="0" y="34846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0491728" y="5050629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0491728" y="6225061"/>
            <a:ext cx="7315200" cy="1409839"/>
          </a:xfrm>
          <a:custGeom>
            <a:avLst/>
            <a:gdLst/>
            <a:ahLst/>
            <a:cxnLst/>
            <a:rect l="l" t="t" r="r" b="b"/>
            <a:pathLst>
              <a:path w="7315200" h="1409839">
                <a:moveTo>
                  <a:pt x="0" y="0"/>
                </a:moveTo>
                <a:lnTo>
                  <a:pt x="7315200" y="0"/>
                </a:lnTo>
                <a:lnTo>
                  <a:pt x="7315200" y="1409839"/>
                </a:lnTo>
                <a:lnTo>
                  <a:pt x="0" y="14098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0491728" y="3415187"/>
            <a:ext cx="7315200" cy="1067912"/>
          </a:xfrm>
          <a:custGeom>
            <a:avLst/>
            <a:gdLst/>
            <a:ahLst/>
            <a:cxnLst/>
            <a:rect l="l" t="t" r="r" b="b"/>
            <a:pathLst>
              <a:path w="7315200" h="1067912">
                <a:moveTo>
                  <a:pt x="0" y="0"/>
                </a:moveTo>
                <a:lnTo>
                  <a:pt x="7315200" y="0"/>
                </a:lnTo>
                <a:lnTo>
                  <a:pt x="7315200" y="1067912"/>
                </a:lnTo>
                <a:lnTo>
                  <a:pt x="0" y="10679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 rot="-5400000">
            <a:off x="-1907438" y="4542266"/>
            <a:ext cx="5949511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planning a computing project| 2024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-196992" y="5430745"/>
            <a:ext cx="7315200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Key Findings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52744" y="4265780"/>
            <a:ext cx="3083481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High usage in decision-making.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74785" y="5459320"/>
            <a:ext cx="4039400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Challenges in data privacy and integration.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86400" y="6573110"/>
            <a:ext cx="3657600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Potential for improving customer service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91728" y="3688158"/>
            <a:ext cx="7315200" cy="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Summary of Analysis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52934" y="5511073"/>
            <a:ext cx="5159812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How different departments use Big Data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605683" y="6685505"/>
            <a:ext cx="5816084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Levels of satisfaction with Big Data initiatives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7891" y="3217015"/>
            <a:ext cx="516960" cy="51696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866775"/>
            <a:ext cx="16230600" cy="2955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SCOPE MANAGEMENT</a:t>
            </a:r>
          </a:p>
          <a:p>
            <a:pPr algn="ctr">
              <a:lnSpc>
                <a:spcPts val="11899"/>
              </a:lnSpc>
            </a:pPr>
            <a:endParaRPr lang="en-US" sz="8499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411959" y="2938956"/>
            <a:ext cx="7530658" cy="79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Functional Requirements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11959" y="5767083"/>
            <a:ext cx="8015087" cy="79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Non-Functional Requirements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11959" y="3859959"/>
            <a:ext cx="14847341" cy="191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0445" lvl="1" indent="-395222" algn="l">
              <a:lnSpc>
                <a:spcPts val="5125"/>
              </a:lnSpc>
              <a:buAutoNum type="arabicPeriod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Analyze large datasets.</a:t>
            </a:r>
          </a:p>
          <a:p>
            <a:pPr marL="790445" lvl="1" indent="-395222" algn="l">
              <a:lnSpc>
                <a:spcPts val="5125"/>
              </a:lnSpc>
              <a:buAutoNum type="arabicPeriod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Provide insights.</a:t>
            </a:r>
          </a:p>
          <a:p>
            <a:pPr marL="790445" lvl="1" indent="-395222" algn="l">
              <a:lnSpc>
                <a:spcPts val="5125"/>
              </a:lnSpc>
              <a:buAutoNum type="arabicPeriod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Improve workflows.</a:t>
            </a:r>
          </a:p>
        </p:txBody>
      </p:sp>
      <p:sp>
        <p:nvSpPr>
          <p:cNvPr id="9" name="Freeform 9"/>
          <p:cNvSpPr/>
          <p:nvPr/>
        </p:nvSpPr>
        <p:spPr>
          <a:xfrm>
            <a:off x="13764167" y="582762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2411959" y="6685928"/>
            <a:ext cx="14847341" cy="191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0445" lvl="1" indent="-395222" algn="l">
              <a:lnSpc>
                <a:spcPts val="5125"/>
              </a:lnSpc>
              <a:buAutoNum type="arabicPeriod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Ensure data privacy.</a:t>
            </a:r>
          </a:p>
          <a:p>
            <a:pPr marL="790445" lvl="1" indent="-395222" algn="l">
              <a:lnSpc>
                <a:spcPts val="5125"/>
              </a:lnSpc>
              <a:buAutoNum type="arabicPeriod"/>
            </a:pPr>
            <a:r>
              <a:rPr lang="en-US" sz="366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provide employee training.</a:t>
            </a:r>
          </a:p>
          <a:p>
            <a:pPr algn="l">
              <a:lnSpc>
                <a:spcPts val="5125"/>
              </a:lnSpc>
            </a:pPr>
            <a:endParaRPr lang="en-US" sz="3661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547891" y="5996601"/>
            <a:ext cx="516960" cy="51696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 flipV="1">
            <a:off x="-260599" y="9061267"/>
            <a:ext cx="6437888" cy="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7" name="Group 17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-2628900" y="-144908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5480658" y="8793480"/>
            <a:ext cx="5949511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planning a computing project| 2024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35455" y="3989625"/>
            <a:ext cx="3217091" cy="1393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KEY MILESTONES</a:t>
            </a:r>
          </a:p>
        </p:txBody>
      </p:sp>
      <p:sp>
        <p:nvSpPr>
          <p:cNvPr id="3" name="Freeform 3"/>
          <p:cNvSpPr/>
          <p:nvPr/>
        </p:nvSpPr>
        <p:spPr>
          <a:xfrm>
            <a:off x="13417488" y="614217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-260599" y="9061267"/>
            <a:ext cx="6618733" cy="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7" name="Group 7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7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-2243137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5374773" y="930029"/>
            <a:ext cx="7638952" cy="7500062"/>
          </a:xfrm>
          <a:custGeom>
            <a:avLst/>
            <a:gdLst/>
            <a:ahLst/>
            <a:cxnLst/>
            <a:rect l="l" t="t" r="r" b="b"/>
            <a:pathLst>
              <a:path w="7638952" h="7500062">
                <a:moveTo>
                  <a:pt x="0" y="0"/>
                </a:moveTo>
                <a:lnTo>
                  <a:pt x="7638952" y="0"/>
                </a:lnTo>
                <a:lnTo>
                  <a:pt x="7638952" y="7500062"/>
                </a:lnTo>
                <a:lnTo>
                  <a:pt x="0" y="75000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5480658" y="8793480"/>
            <a:ext cx="5949511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planning a computing project| 2024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9962" y="1480883"/>
            <a:ext cx="1674038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Project Start: 1-8- 2024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37351" y="1872866"/>
            <a:ext cx="1830388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Data Collection: 11-8- 2024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17179" y="4632435"/>
            <a:ext cx="1696546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Privacy Audit: 17-8- 2024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18030" y="6793142"/>
            <a:ext cx="1938760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Tool Integration: 30-8- 2024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48272" y="7333440"/>
            <a:ext cx="2014282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Training Complete: 11-9 - 2024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13639" y="5613902"/>
            <a:ext cx="1502929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Mid-Review: 24-9- 2024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71610" y="3169740"/>
            <a:ext cx="1544958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Project Close: 1-10- 2024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59701" y="2632998"/>
            <a:ext cx="147280" cy="36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9"/>
              </a:lnSpc>
            </a:pPr>
            <a:r>
              <a:rPr lang="en-US" sz="21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18030" y="2632998"/>
            <a:ext cx="153353" cy="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17179" y="4018200"/>
            <a:ext cx="20633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79837" y="5913622"/>
            <a:ext cx="2151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89176" y="6783617"/>
            <a:ext cx="21014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19553" y="5913622"/>
            <a:ext cx="228719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98101" y="4018200"/>
            <a:ext cx="175379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260599" y="9061267"/>
            <a:ext cx="6642982" cy="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5" name="Group 5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4982801" y="637964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1648907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5480658" y="8793480"/>
            <a:ext cx="5949511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planning a computing project| 2024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998" y="5481637"/>
            <a:ext cx="9458409" cy="2897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Data Quality: Ensure reliable data.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Resistance to Change: Employee training and support.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Security Issues: Implement strict protocols.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Cost Overruns: Monitor budget closely.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Integration Challenges: Plan and test thoroughly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6633" y="1904054"/>
            <a:ext cx="16914734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Management and </a:t>
            </a:r>
            <a:r>
              <a:rPr lang="en-US" sz="8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Budget</a:t>
            </a:r>
            <a:endParaRPr lang="en-US" sz="9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139238" y="4953317"/>
            <a:ext cx="9525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3283671" y="3441388"/>
            <a:ext cx="318706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Risks: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66358" y="3738385"/>
            <a:ext cx="590788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Budget Summary: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53800" y="5481637"/>
            <a:ext cx="4932998" cy="2897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Personnel: 44,560 JOD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Software &amp; Tools: 26,000 JOD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Hardware: 9,500 JOD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Training : 14,780 JOD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Total: 94,840 JOD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53980" y="866775"/>
            <a:ext cx="13180039" cy="2955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CONCLUSION AND RECOMMENDATIONS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16425" y="6011315"/>
            <a:ext cx="6450970" cy="2573239"/>
            <a:chOff x="0" y="0"/>
            <a:chExt cx="1699021" cy="6777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99021" cy="677725"/>
            </a:xfrm>
            <a:custGeom>
              <a:avLst/>
              <a:gdLst/>
              <a:ahLst/>
              <a:cxnLst/>
              <a:rect l="l" t="t" r="r" b="b"/>
              <a:pathLst>
                <a:path w="1699021" h="677725">
                  <a:moveTo>
                    <a:pt x="61206" y="0"/>
                  </a:moveTo>
                  <a:lnTo>
                    <a:pt x="1637815" y="0"/>
                  </a:lnTo>
                  <a:cubicBezTo>
                    <a:pt x="1654047" y="0"/>
                    <a:pt x="1669616" y="6448"/>
                    <a:pt x="1681094" y="17927"/>
                  </a:cubicBezTo>
                  <a:cubicBezTo>
                    <a:pt x="1692572" y="29405"/>
                    <a:pt x="1699021" y="44973"/>
                    <a:pt x="1699021" y="61206"/>
                  </a:cubicBezTo>
                  <a:lnTo>
                    <a:pt x="1699021" y="616519"/>
                  </a:lnTo>
                  <a:cubicBezTo>
                    <a:pt x="1699021" y="632752"/>
                    <a:pt x="1692572" y="648320"/>
                    <a:pt x="1681094" y="659799"/>
                  </a:cubicBezTo>
                  <a:cubicBezTo>
                    <a:pt x="1669616" y="671277"/>
                    <a:pt x="1654047" y="677725"/>
                    <a:pt x="1637815" y="677725"/>
                  </a:cubicBezTo>
                  <a:lnTo>
                    <a:pt x="61206" y="677725"/>
                  </a:lnTo>
                  <a:cubicBezTo>
                    <a:pt x="27403" y="677725"/>
                    <a:pt x="0" y="650323"/>
                    <a:pt x="0" y="616519"/>
                  </a:cubicBezTo>
                  <a:lnTo>
                    <a:pt x="0" y="61206"/>
                  </a:lnTo>
                  <a:cubicBezTo>
                    <a:pt x="0" y="44973"/>
                    <a:pt x="6448" y="29405"/>
                    <a:pt x="17927" y="17927"/>
                  </a:cubicBezTo>
                  <a:cubicBezTo>
                    <a:pt x="29405" y="6448"/>
                    <a:pt x="44973" y="0"/>
                    <a:pt x="61206" y="0"/>
                  </a:cubicBezTo>
                  <a:close/>
                </a:path>
              </a:pathLst>
            </a:custGeom>
            <a:solidFill>
              <a:srgbClr val="E9C7C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99021" cy="71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907947" y="6158855"/>
            <a:ext cx="6450970" cy="2573239"/>
            <a:chOff x="0" y="0"/>
            <a:chExt cx="1699021" cy="6777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99021" cy="677725"/>
            </a:xfrm>
            <a:custGeom>
              <a:avLst/>
              <a:gdLst/>
              <a:ahLst/>
              <a:cxnLst/>
              <a:rect l="l" t="t" r="r" b="b"/>
              <a:pathLst>
                <a:path w="1699021" h="677725">
                  <a:moveTo>
                    <a:pt x="61206" y="0"/>
                  </a:moveTo>
                  <a:lnTo>
                    <a:pt x="1637815" y="0"/>
                  </a:lnTo>
                  <a:cubicBezTo>
                    <a:pt x="1654047" y="0"/>
                    <a:pt x="1669616" y="6448"/>
                    <a:pt x="1681094" y="17927"/>
                  </a:cubicBezTo>
                  <a:cubicBezTo>
                    <a:pt x="1692572" y="29405"/>
                    <a:pt x="1699021" y="44973"/>
                    <a:pt x="1699021" y="61206"/>
                  </a:cubicBezTo>
                  <a:lnTo>
                    <a:pt x="1699021" y="616519"/>
                  </a:lnTo>
                  <a:cubicBezTo>
                    <a:pt x="1699021" y="632752"/>
                    <a:pt x="1692572" y="648320"/>
                    <a:pt x="1681094" y="659799"/>
                  </a:cubicBezTo>
                  <a:cubicBezTo>
                    <a:pt x="1669616" y="671277"/>
                    <a:pt x="1654047" y="677725"/>
                    <a:pt x="1637815" y="677725"/>
                  </a:cubicBezTo>
                  <a:lnTo>
                    <a:pt x="61206" y="677725"/>
                  </a:lnTo>
                  <a:cubicBezTo>
                    <a:pt x="27403" y="677725"/>
                    <a:pt x="0" y="650323"/>
                    <a:pt x="0" y="616519"/>
                  </a:cubicBezTo>
                  <a:lnTo>
                    <a:pt x="0" y="61206"/>
                  </a:lnTo>
                  <a:cubicBezTo>
                    <a:pt x="0" y="44973"/>
                    <a:pt x="6448" y="29405"/>
                    <a:pt x="17927" y="17927"/>
                  </a:cubicBezTo>
                  <a:cubicBezTo>
                    <a:pt x="29405" y="6448"/>
                    <a:pt x="44973" y="0"/>
                    <a:pt x="61206" y="0"/>
                  </a:cubicBezTo>
                  <a:close/>
                </a:path>
              </a:pathLst>
            </a:custGeom>
            <a:solidFill>
              <a:srgbClr val="E9C7C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99021" cy="71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416425" y="5488023"/>
            <a:ext cx="6590020" cy="670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Recommendations</a:t>
            </a:r>
          </a:p>
        </p:txBody>
      </p:sp>
      <p:sp>
        <p:nvSpPr>
          <p:cNvPr id="10" name="AutoShape 10"/>
          <p:cNvSpPr/>
          <p:nvPr/>
        </p:nvSpPr>
        <p:spPr>
          <a:xfrm flipV="1">
            <a:off x="1091252" y="7749431"/>
            <a:ext cx="4640" cy="2537466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H="1" flipV="1">
            <a:off x="1090490" y="-104525"/>
            <a:ext cx="209238" cy="2226774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13" name="Group 13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9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475832" y="-144908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0721225" y="878816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 rot="-5400000">
            <a:off x="-1907438" y="4542266"/>
            <a:ext cx="5949511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planning a computing project| 2024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16425" y="6673205"/>
            <a:ext cx="6450970" cy="1536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Strengthen data governance and privacy.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Invest in ongoing employee training.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Enhance cross-department collaboration.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07947" y="5637799"/>
            <a:ext cx="6590020" cy="670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Conclusion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07947" y="6453274"/>
            <a:ext cx="6450970" cy="233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Project Methodology</a:t>
            </a:r>
            <a:r>
              <a:rPr lang="en-US" sz="21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: Agile for flexibility and risk management.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Reflection</a:t>
            </a:r>
            <a:r>
              <a:rPr lang="en-US" sz="21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: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Research and planning align with Zain’s strategic goals.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Continuous evaluation and adaptation ensure project success.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54977" y="3748035"/>
            <a:ext cx="11627497" cy="2514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sz="1469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33857" y="6762653"/>
            <a:ext cx="10669737" cy="703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3"/>
              </a:lnSpc>
            </a:pPr>
            <a:r>
              <a:rPr lang="en-US" sz="411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Presented By : Omar Abuhassan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5" name="Group 5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Freeform 14"/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6463320" y="1797315"/>
            <a:ext cx="5949511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planning a computing project| 2024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86661" y="7959536"/>
            <a:ext cx="6364129" cy="685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7"/>
              </a:lnSpc>
            </a:pPr>
            <a:r>
              <a:rPr lang="en-US" sz="411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Instructor: Islam Alomari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</Words>
  <Application>Microsoft Office PowerPoint</Application>
  <PresentationFormat>Custom</PresentationFormat>
  <Paragraphs>132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Canva Sans</vt:lpstr>
      <vt:lpstr>Abhaya Libre</vt:lpstr>
      <vt:lpstr>Canva Sans Bold</vt:lpstr>
      <vt:lpstr>Alatsi</vt:lpstr>
      <vt:lpstr>Calibri</vt:lpstr>
      <vt:lpstr>Open Sans Bold</vt:lpstr>
      <vt:lpstr>Abhaya Libre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Pastel Minimalist Thesis Defense Presentation</dc:title>
  <cp:lastModifiedBy>omar abuhassan</cp:lastModifiedBy>
  <cp:revision>2</cp:revision>
  <dcterms:created xsi:type="dcterms:W3CDTF">2006-08-16T00:00:00Z</dcterms:created>
  <dcterms:modified xsi:type="dcterms:W3CDTF">2024-09-04T16:40:59Z</dcterms:modified>
  <dc:identifier>DAGPzjYTTXQ</dc:identifier>
</cp:coreProperties>
</file>